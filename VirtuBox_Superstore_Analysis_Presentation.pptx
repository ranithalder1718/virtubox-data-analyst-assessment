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IN"/>
              <a:t>Reported profit by category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Reported profit ($)</c:v>
                </c:pt>
              </c:strCache>
            </c:strRef>
          </c:tx>
          <c:invertIfNegative val="1"/>
          <c:dLbls>
            <c:numFmt formatCode="\$#,##0" sourceLinked="0"/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Technology</c:v>
                </c:pt>
                <c:pt idx="1">
                  <c:v>Furniture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763241.47</c:v>
                </c:pt>
                <c:pt idx="1">
                  <c:v>75444.570000000007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109-47F5-BDA4-89BC79B8A848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t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IN"/>
              <a:t>Reported profit by region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Reported profit ($)</c:v>
                </c:pt>
              </c:strCache>
            </c:strRef>
          </c:tx>
          <c:invertIfNegative val="1"/>
          <c:dLbls>
            <c:numFmt formatCode="\$#,##0" sourceLinked="0"/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West</c:v>
                </c:pt>
                <c:pt idx="1">
                  <c:v>East</c:v>
                </c:pt>
                <c:pt idx="2">
                  <c:v>South</c:v>
                </c:pt>
                <c:pt idx="3">
                  <c:v>Central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529466.12</c:v>
                </c:pt>
                <c:pt idx="1">
                  <c:v>464070.33</c:v>
                </c:pt>
                <c:pt idx="2">
                  <c:v>244997.05</c:v>
                </c:pt>
                <c:pt idx="3">
                  <c:v>203575.67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C9A-47D3-9B81-AA2DFA080CE6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t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23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8869680" y="621792"/>
            <a:ext cx="566928" cy="109728"/>
          </a:xfrm>
          <a:prstGeom prst="round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9601200" y="621792"/>
            <a:ext cx="566928" cy="109728"/>
          </a:xfrm>
          <a:prstGeom prst="roundRect">
            <a:avLst/>
          </a:prstGeom>
          <a:solidFill>
            <a:srgbClr val="12A5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0332720" y="621792"/>
            <a:ext cx="566928" cy="109728"/>
          </a:xfrm>
          <a:prstGeom prst="roundRect">
            <a:avLst/>
          </a:prstGeom>
          <a:solidFill>
            <a:srgbClr val="EB9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1064240" y="621792"/>
            <a:ext cx="566928" cy="109728"/>
          </a:xfrm>
          <a:prstGeom prst="roundRect">
            <a:avLst/>
          </a:prstGeom>
          <a:solidFill>
            <a:srgbClr val="82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143000"/>
            <a:ext cx="9875520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1200" b="1">
                <a:solidFill>
                  <a:srgbClr val="ADC3E4"/>
                </a:solidFill>
                <a:latin typeface="Aptos"/>
              </a:defRPr>
            </a:pPr>
            <a:r>
              <a:t>DATA ANALYST ASSESSMENT  •  VIRTUBOX INFOTECH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10058400" cy="1463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3500" b="1">
                <a:solidFill>
                  <a:srgbClr val="FFFFFF"/>
                </a:solidFill>
                <a:latin typeface="Aptos"/>
              </a:defRPr>
            </a:pPr>
            <a:r>
              <a:t>Superstore Sales &amp;</a:t>
            </a:r>
            <a:br/>
            <a:r>
              <a:t>Profitability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703320"/>
            <a:ext cx="9144000" cy="7315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1900" b="0">
                <a:solidFill>
                  <a:srgbClr val="DCE5F2"/>
                </a:solidFill>
                <a:latin typeface="Aptos"/>
              </a:defRPr>
            </a:pPr>
            <a:r>
              <a:t>Turning transaction data into practical decisions on growth, margins, and discounting.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4754880"/>
            <a:ext cx="1051560" cy="64008"/>
          </a:xfrm>
          <a:prstGeom prst="rect">
            <a:avLst/>
          </a:prstGeom>
          <a:solidFill>
            <a:srgbClr val="12A5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5074920"/>
            <a:ext cx="7772400" cy="2743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1300" b="0">
                <a:solidFill>
                  <a:srgbClr val="FFFFFF"/>
                </a:solidFill>
                <a:latin typeface="Aptos"/>
              </a:defRPr>
            </a:pPr>
            <a:r>
              <a:t>Prepared for: VirtuBox Infotech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5440680"/>
            <a:ext cx="8229600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1200" b="0">
                <a:solidFill>
                  <a:srgbClr val="ADC3E4"/>
                </a:solidFill>
                <a:latin typeface="Aptos"/>
              </a:defRPr>
            </a:pPr>
            <a:r>
              <a:t>Focus: Sales • Profitability • Product mix • Regional performance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44200" y="6263640"/>
            <a:ext cx="685800" cy="2286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r">
              <a:defRPr sz="1000" b="0">
                <a:solidFill>
                  <a:srgbClr val="ADC3E4"/>
                </a:solidFill>
                <a:latin typeface="Aptos"/>
              </a:defRPr>
            </a:pPr>
            <a: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2700" b="1">
                <a:solidFill>
                  <a:srgbClr val="13233E"/>
                </a:solidFill>
                <a:latin typeface="Aptos"/>
              </a:defRPr>
            </a:pPr>
            <a: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59536"/>
            <a:ext cx="10789920" cy="2743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1100" b="0">
                <a:solidFill>
                  <a:srgbClr val="667489"/>
                </a:solidFill>
                <a:latin typeface="Aptos"/>
              </a:defRPr>
            </a:pPr>
            <a:r>
              <a:t>A quick view of the commercial picture in the analysis dataset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07008"/>
            <a:ext cx="731520" cy="54864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411480" cy="1828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r">
              <a:defRPr sz="900" b="0">
                <a:solidFill>
                  <a:srgbClr val="667489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08760"/>
            <a:ext cx="26060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0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5528" y="1636776"/>
            <a:ext cx="2313432" cy="2286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900" b="1">
                <a:solidFill>
                  <a:srgbClr val="667489"/>
                </a:solidFill>
                <a:latin typeface="Aptos"/>
              </a:defRPr>
            </a:pPr>
            <a:r>
              <a:t>TOTAL SALES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1947672"/>
            <a:ext cx="2313432" cy="43891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2300" b="1">
                <a:solidFill>
                  <a:srgbClr val="2F6BFF"/>
                </a:solidFill>
                <a:latin typeface="Aptos"/>
              </a:defRPr>
            </a:pPr>
            <a:r>
              <a:t>$11.31M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2606040"/>
            <a:ext cx="2313432" cy="20116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900" b="0">
                <a:solidFill>
                  <a:srgbClr val="667489"/>
                </a:solidFill>
                <a:latin typeface="Aptos"/>
              </a:defRPr>
            </a:pPr>
            <a:r>
              <a:t>Reported dashboard KPI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1508760"/>
            <a:ext cx="26060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0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584448" y="1636776"/>
            <a:ext cx="2313432" cy="2286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900" b="1">
                <a:solidFill>
                  <a:srgbClr val="667489"/>
                </a:solidFill>
                <a:latin typeface="Aptos"/>
              </a:defRPr>
            </a:pPr>
            <a:r>
              <a:t>TOTAL PROFIT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84448" y="1947672"/>
            <a:ext cx="2313432" cy="43891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2300" b="1">
                <a:solidFill>
                  <a:srgbClr val="12A594"/>
                </a:solidFill>
                <a:latin typeface="Aptos"/>
              </a:defRPr>
            </a:pPr>
            <a:r>
              <a:t>$1.44M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84448" y="2606040"/>
            <a:ext cx="2313432" cy="20116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900" b="0">
                <a:solidFill>
                  <a:srgbClr val="667489"/>
                </a:solidFill>
                <a:latin typeface="Aptos"/>
              </a:defRPr>
            </a:pPr>
            <a:r>
              <a:t>Reported dashboard KPI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508760"/>
            <a:ext cx="26060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0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73368" y="1636776"/>
            <a:ext cx="2313432" cy="2286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900" b="1">
                <a:solidFill>
                  <a:srgbClr val="667489"/>
                </a:solidFill>
                <a:latin typeface="Aptos"/>
              </a:defRPr>
            </a:pPr>
            <a:r>
              <a:t>PROFIT MARGIN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3368" y="1947672"/>
            <a:ext cx="2313432" cy="43891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2300" b="1">
                <a:solidFill>
                  <a:srgbClr val="239164"/>
                </a:solidFill>
                <a:latin typeface="Aptos"/>
              </a:defRPr>
            </a:pPr>
            <a:r>
              <a:t>12.75%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3368" y="2606040"/>
            <a:ext cx="2313432" cy="20116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900" b="0">
                <a:solidFill>
                  <a:srgbClr val="667489"/>
                </a:solidFill>
                <a:latin typeface="Aptos"/>
              </a:defRPr>
            </a:pPr>
            <a:r>
              <a:t>Profit ÷ sales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06840" y="1508760"/>
            <a:ext cx="25603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0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62288" y="1636776"/>
            <a:ext cx="2267712" cy="2286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900" b="1">
                <a:solidFill>
                  <a:srgbClr val="667489"/>
                </a:solidFill>
                <a:latin typeface="Aptos"/>
              </a:defRPr>
            </a:pPr>
            <a:r>
              <a:t>AVG. DISCOUNT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62288" y="1947672"/>
            <a:ext cx="2267712" cy="43891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2300" b="1">
                <a:solidFill>
                  <a:srgbClr val="EB9134"/>
                </a:solidFill>
                <a:latin typeface="Aptos"/>
              </a:defRPr>
            </a:pPr>
            <a:r>
              <a:t>15.62%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62288" y="2606040"/>
            <a:ext cx="2267712" cy="20116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900" b="0">
                <a:solidFill>
                  <a:srgbClr val="667489"/>
                </a:solidFill>
                <a:latin typeface="Aptos"/>
              </a:defRPr>
            </a:pPr>
            <a:r>
              <a:t>Reported average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3291840"/>
            <a:ext cx="5029200" cy="3657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1800" b="1">
                <a:solidFill>
                  <a:srgbClr val="13233E"/>
                </a:solidFill>
                <a:latin typeface="Aptos"/>
              </a:defRPr>
            </a:pPr>
            <a:r>
              <a:t>What matters most</a:t>
            </a:r>
          </a:p>
        </p:txBody>
      </p:sp>
      <p:sp>
        <p:nvSpPr>
          <p:cNvPr id="23" name="Oval 22"/>
          <p:cNvSpPr/>
          <p:nvPr/>
        </p:nvSpPr>
        <p:spPr>
          <a:xfrm>
            <a:off x="777240" y="3886200"/>
            <a:ext cx="109728" cy="109728"/>
          </a:xfrm>
          <a:prstGeom prst="ellipse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96695" y="3794760"/>
            <a:ext cx="4992624" cy="5486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1300" b="0">
                <a:solidFill>
                  <a:srgbClr val="263244"/>
                </a:solidFill>
                <a:latin typeface="Aptos"/>
              </a:defRPr>
            </a:pPr>
            <a:r>
              <a:t>Technology is the strongest reported category for profit and margin.</a:t>
            </a:r>
          </a:p>
        </p:txBody>
      </p:sp>
      <p:sp>
        <p:nvSpPr>
          <p:cNvPr id="25" name="Oval 24"/>
          <p:cNvSpPr/>
          <p:nvPr/>
        </p:nvSpPr>
        <p:spPr>
          <a:xfrm>
            <a:off x="777240" y="4617720"/>
            <a:ext cx="109728" cy="109728"/>
          </a:xfrm>
          <a:prstGeom prst="ellipse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96695" y="4526280"/>
            <a:ext cx="4992624" cy="5486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1300" b="0">
                <a:solidFill>
                  <a:srgbClr val="263244"/>
                </a:solidFill>
                <a:latin typeface="Aptos"/>
              </a:defRPr>
            </a:pPr>
            <a:r>
              <a:t>Furniture has a thin reported margin; pricing and discount controls matter.</a:t>
            </a:r>
          </a:p>
        </p:txBody>
      </p:sp>
      <p:sp>
        <p:nvSpPr>
          <p:cNvPr id="27" name="Oval 26"/>
          <p:cNvSpPr/>
          <p:nvPr/>
        </p:nvSpPr>
        <p:spPr>
          <a:xfrm>
            <a:off x="6217920" y="3886200"/>
            <a:ext cx="109728" cy="109728"/>
          </a:xfrm>
          <a:prstGeom prst="ellipse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37376" y="3794760"/>
            <a:ext cx="4992624" cy="5486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1300" b="0">
                <a:solidFill>
                  <a:srgbClr val="263244"/>
                </a:solidFill>
                <a:latin typeface="Aptos"/>
              </a:defRPr>
            </a:pPr>
            <a:r>
              <a:t>Higher discount bands show negative average profit in the prepared analysis.</a:t>
            </a:r>
          </a:p>
        </p:txBody>
      </p:sp>
      <p:sp>
        <p:nvSpPr>
          <p:cNvPr id="29" name="Oval 28"/>
          <p:cNvSpPr/>
          <p:nvPr/>
        </p:nvSpPr>
        <p:spPr>
          <a:xfrm>
            <a:off x="6217920" y="4617720"/>
            <a:ext cx="109728" cy="109728"/>
          </a:xfrm>
          <a:prstGeom prst="ellipse">
            <a:avLst/>
          </a:prstGeom>
          <a:solidFill>
            <a:srgbClr val="EB9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37376" y="4526280"/>
            <a:ext cx="4992624" cy="5486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1200" b="0">
                <a:solidFill>
                  <a:srgbClr val="263244"/>
                </a:solidFill>
                <a:latin typeface="Aptos"/>
              </a:defRPr>
            </a:pPr>
            <a:r>
              <a:t>The dataset was expanded to 50,000 rows; these are not 50,000 verified original transactions.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2700" b="1">
                <a:solidFill>
                  <a:srgbClr val="13233E"/>
                </a:solidFill>
                <a:latin typeface="Aptos"/>
              </a:defRPr>
            </a:pPr>
            <a:r>
              <a:t>Business question &amp;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59536"/>
            <a:ext cx="10789920" cy="2743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1100" b="0">
                <a:solidFill>
                  <a:srgbClr val="667489"/>
                </a:solidFill>
                <a:latin typeface="Aptos"/>
              </a:defRPr>
            </a:pPr>
            <a:r>
              <a:t>Focus on profitable growth—not sales volume alone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07008"/>
            <a:ext cx="731520" cy="54864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411480" cy="1828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r">
              <a:defRPr sz="900" b="0">
                <a:solidFill>
                  <a:srgbClr val="667489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54480"/>
            <a:ext cx="516636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E0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172200" y="1554480"/>
            <a:ext cx="530352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E0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828800"/>
            <a:ext cx="4526280" cy="3657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1800" b="1">
                <a:solidFill>
                  <a:srgbClr val="13233E"/>
                </a:solidFill>
                <a:latin typeface="Aptos"/>
              </a:defRPr>
            </a:pPr>
            <a:r>
              <a:t>Core business question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331720"/>
            <a:ext cx="4526280" cy="9601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2000" b="1">
                <a:solidFill>
                  <a:srgbClr val="263244"/>
                </a:solidFill>
                <a:latin typeface="Aptos"/>
              </a:defRPr>
            </a:pPr>
            <a:r>
              <a:t>How can the business grow sales while protecting profit across products, regions, and discount levels?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520440"/>
            <a:ext cx="4526280" cy="2743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1400" b="1">
                <a:solidFill>
                  <a:srgbClr val="2F6BFF"/>
                </a:solidFill>
                <a:latin typeface="Aptos"/>
              </a:defRPr>
            </a:pPr>
            <a:r>
              <a:t>Questions explored</a:t>
            </a:r>
          </a:p>
        </p:txBody>
      </p:sp>
      <p:sp>
        <p:nvSpPr>
          <p:cNvPr id="11" name="Oval 10"/>
          <p:cNvSpPr/>
          <p:nvPr/>
        </p:nvSpPr>
        <p:spPr>
          <a:xfrm>
            <a:off x="1005840" y="4023359"/>
            <a:ext cx="109728" cy="109728"/>
          </a:xfrm>
          <a:prstGeom prst="ellipse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225296" y="3931920"/>
            <a:ext cx="4261104" cy="5486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1200" b="0">
                <a:solidFill>
                  <a:srgbClr val="263244"/>
                </a:solidFill>
                <a:latin typeface="Aptos"/>
              </a:defRPr>
            </a:pPr>
            <a:r>
              <a:t>Which categories contribute most to sales and profit?</a:t>
            </a:r>
          </a:p>
        </p:txBody>
      </p:sp>
      <p:sp>
        <p:nvSpPr>
          <p:cNvPr id="13" name="Oval 12"/>
          <p:cNvSpPr/>
          <p:nvPr/>
        </p:nvSpPr>
        <p:spPr>
          <a:xfrm>
            <a:off x="1005840" y="4663440"/>
            <a:ext cx="109728" cy="109728"/>
          </a:xfrm>
          <a:prstGeom prst="ellipse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225296" y="4572000"/>
            <a:ext cx="4261104" cy="5486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1200" b="0">
                <a:solidFill>
                  <a:srgbClr val="263244"/>
                </a:solidFill>
                <a:latin typeface="Aptos"/>
              </a:defRPr>
            </a:pPr>
            <a:r>
              <a:t>Where do losses appear by sub-category or discount band?</a:t>
            </a:r>
          </a:p>
        </p:txBody>
      </p:sp>
      <p:sp>
        <p:nvSpPr>
          <p:cNvPr id="15" name="Oval 14"/>
          <p:cNvSpPr/>
          <p:nvPr/>
        </p:nvSpPr>
        <p:spPr>
          <a:xfrm>
            <a:off x="1005840" y="5303520"/>
            <a:ext cx="109728" cy="109728"/>
          </a:xfrm>
          <a:prstGeom prst="ellipse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225296" y="5212080"/>
            <a:ext cx="4261104" cy="5486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1200" b="0">
                <a:solidFill>
                  <a:srgbClr val="263244"/>
                </a:solidFill>
                <a:latin typeface="Aptos"/>
              </a:defRPr>
            </a:pPr>
            <a:r>
              <a:t>Which regions are strongest on profit?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1828800"/>
            <a:ext cx="4572000" cy="3657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1800" b="1">
                <a:solidFill>
                  <a:srgbClr val="13233E"/>
                </a:solidFill>
                <a:latin typeface="Aptos"/>
              </a:defRPr>
            </a:pPr>
            <a:r>
              <a:t>Workflow</a:t>
            </a:r>
          </a:p>
        </p:txBody>
      </p:sp>
      <p:sp>
        <p:nvSpPr>
          <p:cNvPr id="18" name="Oval 17"/>
          <p:cNvSpPr/>
          <p:nvPr/>
        </p:nvSpPr>
        <p:spPr>
          <a:xfrm>
            <a:off x="6473952" y="2395728"/>
            <a:ext cx="411480" cy="411480"/>
          </a:xfrm>
          <a:prstGeom prst="ellipse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59168" y="2377440"/>
            <a:ext cx="1143000" cy="2743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1400" b="1">
                <a:solidFill>
                  <a:srgbClr val="263244"/>
                </a:solidFill>
                <a:latin typeface="Aptos"/>
              </a:defRPr>
            </a:pPr>
            <a:r>
              <a:t>Inspect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2377440"/>
            <a:ext cx="2834640" cy="5029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1100" b="0">
                <a:solidFill>
                  <a:srgbClr val="667489"/>
                </a:solidFill>
                <a:latin typeface="Aptos"/>
              </a:defRPr>
            </a:pPr>
            <a:r>
              <a:t>Review fields, missing values, duplicates, and types.</a:t>
            </a:r>
          </a:p>
        </p:txBody>
      </p:sp>
      <p:sp>
        <p:nvSpPr>
          <p:cNvPr id="21" name="Oval 20"/>
          <p:cNvSpPr/>
          <p:nvPr/>
        </p:nvSpPr>
        <p:spPr>
          <a:xfrm>
            <a:off x="6473952" y="3145536"/>
            <a:ext cx="411480" cy="411480"/>
          </a:xfrm>
          <a:prstGeom prst="ellipse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59168" y="3127248"/>
            <a:ext cx="1143000" cy="2743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1400" b="1">
                <a:solidFill>
                  <a:srgbClr val="263244"/>
                </a:solidFill>
                <a:latin typeface="Aptos"/>
              </a:defRPr>
            </a:pPr>
            <a:r>
              <a:t>Prepare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3127248"/>
            <a:ext cx="2834640" cy="5029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1100" b="0">
                <a:solidFill>
                  <a:srgbClr val="667489"/>
                </a:solidFill>
                <a:latin typeface="Aptos"/>
              </a:defRPr>
            </a:pPr>
            <a:r>
              <a:t>Standardize and clean fields used in analysis.</a:t>
            </a:r>
          </a:p>
        </p:txBody>
      </p:sp>
      <p:sp>
        <p:nvSpPr>
          <p:cNvPr id="24" name="Oval 23"/>
          <p:cNvSpPr/>
          <p:nvPr/>
        </p:nvSpPr>
        <p:spPr>
          <a:xfrm>
            <a:off x="6473952" y="3895344"/>
            <a:ext cx="411480" cy="411480"/>
          </a:xfrm>
          <a:prstGeom prst="ellipse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59168" y="3877056"/>
            <a:ext cx="1143000" cy="2743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1400" b="1">
                <a:solidFill>
                  <a:srgbClr val="263244"/>
                </a:solidFill>
                <a:latin typeface="Aptos"/>
              </a:defRPr>
            </a:pPr>
            <a:r>
              <a:t>Analyze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3877056"/>
            <a:ext cx="2834640" cy="5029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1100" b="0">
                <a:solidFill>
                  <a:srgbClr val="667489"/>
                </a:solidFill>
                <a:latin typeface="Aptos"/>
              </a:defRPr>
            </a:pPr>
            <a:r>
              <a:t>Compare sales, profit, margin, region, and discounts.</a:t>
            </a:r>
          </a:p>
        </p:txBody>
      </p:sp>
      <p:sp>
        <p:nvSpPr>
          <p:cNvPr id="27" name="Oval 26"/>
          <p:cNvSpPr/>
          <p:nvPr/>
        </p:nvSpPr>
        <p:spPr>
          <a:xfrm>
            <a:off x="6473952" y="4645152"/>
            <a:ext cx="411480" cy="411480"/>
          </a:xfrm>
          <a:prstGeom prst="ellipse">
            <a:avLst/>
          </a:prstGeom>
          <a:solidFill>
            <a:srgbClr val="12A5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59168" y="4626864"/>
            <a:ext cx="1143000" cy="2743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1400" b="1">
                <a:solidFill>
                  <a:srgbClr val="263244"/>
                </a:solidFill>
                <a:latin typeface="Aptos"/>
              </a:defRPr>
            </a:pPr>
            <a:r>
              <a:t>Communicate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4626864"/>
            <a:ext cx="2834640" cy="5029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1100" b="0">
                <a:solidFill>
                  <a:srgbClr val="667489"/>
                </a:solidFill>
                <a:latin typeface="Aptos"/>
              </a:defRPr>
            </a:pPr>
            <a:r>
              <a:t>Summarize findings in a KPI dashboard and recommendations.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2700" b="1">
                <a:solidFill>
                  <a:srgbClr val="13233E"/>
                </a:solidFill>
                <a:latin typeface="Aptos"/>
              </a:defRPr>
            </a:pPr>
            <a:r>
              <a:t>Finding 1 — category mix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59536"/>
            <a:ext cx="10789920" cy="2743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1100" b="0">
                <a:solidFill>
                  <a:srgbClr val="667489"/>
                </a:solidFill>
                <a:latin typeface="Aptos"/>
              </a:defRPr>
            </a:pPr>
            <a:r>
              <a:t>Technology leads reported profit; Furniture’s reported margin is comparatively weak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07008"/>
            <a:ext cx="731520" cy="54864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411480" cy="1828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r">
              <a:defRPr sz="900" b="0">
                <a:solidFill>
                  <a:srgbClr val="667489"/>
                </a:solidFill>
                <a:latin typeface="Aptos"/>
              </a:defRPr>
            </a:pPr>
            <a:r>
              <a:t>04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85800" y="1600200"/>
          <a:ext cx="557784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629400" y="1691640"/>
            <a:ext cx="4663440" cy="3657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1700" b="1">
                <a:solidFill>
                  <a:srgbClr val="13233E"/>
                </a:solidFill>
                <a:latin typeface="Aptos"/>
              </a:defRPr>
            </a:pPr>
            <a:r>
              <a:t>Reported category metrics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29400" y="2240280"/>
            <a:ext cx="21488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784848" y="2368296"/>
            <a:ext cx="1856232" cy="2286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900" b="1">
                <a:solidFill>
                  <a:srgbClr val="667489"/>
                </a:solidFill>
                <a:latin typeface="Aptos"/>
              </a:defRPr>
            </a:pPr>
            <a:r>
              <a:t>TECHNOLOGY SALES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84848" y="2679192"/>
            <a:ext cx="1856232" cy="43891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2300" b="1">
                <a:solidFill>
                  <a:srgbClr val="2F6BFF"/>
                </a:solidFill>
                <a:latin typeface="Aptos"/>
              </a:defRPr>
            </a:pPr>
            <a:r>
              <a:t>$4.12M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84848" y="3154680"/>
            <a:ext cx="1856232" cy="20116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900" b="0">
                <a:solidFill>
                  <a:srgbClr val="667489"/>
                </a:solidFill>
                <a:latin typeface="Aptos"/>
              </a:defRPr>
            </a:pPr>
            <a:r>
              <a:t>Largest category sales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06840" y="2240280"/>
            <a:ext cx="21488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62288" y="2368296"/>
            <a:ext cx="1856232" cy="2286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900" b="1">
                <a:solidFill>
                  <a:srgbClr val="667489"/>
                </a:solidFill>
                <a:latin typeface="Aptos"/>
              </a:defRPr>
            </a:pPr>
            <a:r>
              <a:t>TECHNOLOGY MARGIN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62288" y="2679192"/>
            <a:ext cx="1856232" cy="43891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2300" b="1">
                <a:solidFill>
                  <a:srgbClr val="12A594"/>
                </a:solidFill>
                <a:latin typeface="Aptos"/>
              </a:defRPr>
            </a:pPr>
            <a:r>
              <a:t>17.86%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62288" y="3154680"/>
            <a:ext cx="1856232" cy="20116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900" b="0">
                <a:solidFill>
                  <a:srgbClr val="667489"/>
                </a:solidFill>
                <a:latin typeface="Aptos"/>
              </a:defRPr>
            </a:pPr>
            <a:r>
              <a:t>Reported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29400" y="3657600"/>
            <a:ext cx="21488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784848" y="3785615"/>
            <a:ext cx="1856232" cy="2286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900" b="1">
                <a:solidFill>
                  <a:srgbClr val="667489"/>
                </a:solidFill>
                <a:latin typeface="Aptos"/>
              </a:defRPr>
            </a:pPr>
            <a:r>
              <a:t>FURNITURE SALES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84848" y="4096512"/>
            <a:ext cx="1856232" cy="43891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2300" b="1">
                <a:solidFill>
                  <a:srgbClr val="EB9134"/>
                </a:solidFill>
                <a:latin typeface="Aptos"/>
              </a:defRPr>
            </a:pPr>
            <a:r>
              <a:t>$3.64M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84848" y="4572000"/>
            <a:ext cx="1856232" cy="20116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900" b="0">
                <a:solidFill>
                  <a:srgbClr val="667489"/>
                </a:solidFill>
                <a:latin typeface="Aptos"/>
              </a:defRPr>
            </a:pPr>
            <a:r>
              <a:t>Reported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06840" y="3657600"/>
            <a:ext cx="21488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62288" y="3785615"/>
            <a:ext cx="1856232" cy="2286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900" b="1">
                <a:solidFill>
                  <a:srgbClr val="667489"/>
                </a:solidFill>
                <a:latin typeface="Aptos"/>
              </a:defRPr>
            </a:pPr>
            <a:r>
              <a:t>FURNITURE MARGIN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62288" y="4096512"/>
            <a:ext cx="1856232" cy="43891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2300" b="1">
                <a:solidFill>
                  <a:srgbClr val="C34141"/>
                </a:solidFill>
                <a:latin typeface="Aptos"/>
              </a:defRPr>
            </a:pPr>
            <a:r>
              <a:t>2.07%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62288" y="4572000"/>
            <a:ext cx="1856232" cy="20116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900" b="0">
                <a:solidFill>
                  <a:srgbClr val="667489"/>
                </a:solidFill>
                <a:latin typeface="Aptos"/>
              </a:defRPr>
            </a:pPr>
            <a:r>
              <a:t>Thin margin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5166360"/>
            <a:ext cx="4480560" cy="5943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1200" b="1">
                <a:solidFill>
                  <a:srgbClr val="263244"/>
                </a:solidFill>
                <a:latin typeface="Aptos"/>
              </a:defRPr>
            </a:pPr>
            <a:r>
              <a:t>Implication: protect Technology’s profitable mix and review Furniture pricing, costs, and discounting.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2700" b="1">
                <a:solidFill>
                  <a:srgbClr val="13233E"/>
                </a:solidFill>
                <a:latin typeface="Aptos"/>
              </a:defRPr>
            </a:pPr>
            <a:r>
              <a:t>Finding 2 — discounting &amp; loss pockets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59536"/>
            <a:ext cx="10789920" cy="2743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1100" b="0">
                <a:solidFill>
                  <a:srgbClr val="667489"/>
                </a:solidFill>
                <a:latin typeface="Aptos"/>
              </a:defRPr>
            </a:pPr>
            <a:r>
              <a:t>The prepared analysis flags high-discount bands and selected sub-categories for review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07008"/>
            <a:ext cx="731520" cy="54864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411480" cy="1828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r">
              <a:defRPr sz="900" b="0">
                <a:solidFill>
                  <a:srgbClr val="667489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00200"/>
            <a:ext cx="4937760" cy="3657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1700" b="1">
                <a:solidFill>
                  <a:srgbClr val="13233E"/>
                </a:solidFill>
                <a:latin typeface="Aptos"/>
              </a:defRPr>
            </a:pPr>
            <a:r>
              <a:t>Average profit by discount band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240280"/>
            <a:ext cx="640080" cy="2743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1400" b="1">
                <a:solidFill>
                  <a:srgbClr val="263244"/>
                </a:solidFill>
                <a:latin typeface="Aptos"/>
              </a:defRPr>
            </a:pPr>
            <a:r>
              <a:t>30%</a:t>
            </a:r>
          </a:p>
        </p:txBody>
      </p:sp>
      <p:sp>
        <p:nvSpPr>
          <p:cNvPr id="8" name="Rectangle 7"/>
          <p:cNvSpPr/>
          <p:nvPr/>
        </p:nvSpPr>
        <p:spPr>
          <a:xfrm>
            <a:off x="1645920" y="2350008"/>
            <a:ext cx="2926080" cy="27432"/>
          </a:xfrm>
          <a:prstGeom prst="rect">
            <a:avLst/>
          </a:prstGeom>
          <a:solidFill>
            <a:srgbClr val="DC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645920" y="2258568"/>
            <a:ext cx="343871" cy="201168"/>
          </a:xfrm>
          <a:prstGeom prst="rect">
            <a:avLst/>
          </a:prstGeom>
          <a:solidFill>
            <a:srgbClr val="C3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63440" y="2221992"/>
            <a:ext cx="1005840" cy="2743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1200" b="1">
                <a:solidFill>
                  <a:srgbClr val="C34141"/>
                </a:solidFill>
                <a:latin typeface="Aptos"/>
              </a:defRPr>
            </a:pPr>
            <a:r>
              <a:t>$-47.96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063240"/>
            <a:ext cx="640080" cy="2743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1400" b="1">
                <a:solidFill>
                  <a:srgbClr val="263244"/>
                </a:solidFill>
                <a:latin typeface="Aptos"/>
              </a:defRPr>
            </a:pPr>
            <a:r>
              <a:t>40%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45920" y="3172968"/>
            <a:ext cx="2926080" cy="27432"/>
          </a:xfrm>
          <a:prstGeom prst="rect">
            <a:avLst/>
          </a:prstGeom>
          <a:solidFill>
            <a:srgbClr val="DC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645920" y="3081528"/>
            <a:ext cx="882910" cy="201168"/>
          </a:xfrm>
          <a:prstGeom prst="rect">
            <a:avLst/>
          </a:prstGeom>
          <a:solidFill>
            <a:srgbClr val="C3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63440" y="3044952"/>
            <a:ext cx="1005840" cy="2743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1200" b="1">
                <a:solidFill>
                  <a:srgbClr val="C34141"/>
                </a:solidFill>
                <a:latin typeface="Aptos"/>
              </a:defRPr>
            </a:pPr>
            <a:r>
              <a:t>$-123.14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886200"/>
            <a:ext cx="640080" cy="2743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1400" b="1">
                <a:solidFill>
                  <a:srgbClr val="263244"/>
                </a:solidFill>
                <a:latin typeface="Aptos"/>
              </a:defRPr>
            </a:pPr>
            <a:r>
              <a:t>50%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645920" y="3995928"/>
            <a:ext cx="2926080" cy="27432"/>
          </a:xfrm>
          <a:prstGeom prst="rect">
            <a:avLst/>
          </a:prstGeom>
          <a:solidFill>
            <a:srgbClr val="DC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645920" y="3904487"/>
            <a:ext cx="2148840" cy="201168"/>
          </a:xfrm>
          <a:prstGeom prst="rect">
            <a:avLst/>
          </a:prstGeom>
          <a:solidFill>
            <a:srgbClr val="C3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663440" y="3867912"/>
            <a:ext cx="1005840" cy="2743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1200" b="1">
                <a:solidFill>
                  <a:srgbClr val="C34141"/>
                </a:solidFill>
                <a:latin typeface="Aptos"/>
              </a:defRPr>
            </a:pPr>
            <a:r>
              <a:t>$-299.70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892040"/>
            <a:ext cx="4937760" cy="5943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1100" b="0">
                <a:solidFill>
                  <a:srgbClr val="667489"/>
                </a:solidFill>
                <a:latin typeface="Aptos"/>
              </a:defRPr>
            </a:pPr>
            <a:r>
              <a:t>High-discount bands coincide with negative average profit in this prepared dataset; this is association, not proof of causation.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1600200"/>
            <a:ext cx="516636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0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92240" y="1874519"/>
            <a:ext cx="4526280" cy="3657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1700" b="1">
                <a:solidFill>
                  <a:srgbClr val="13233E"/>
                </a:solidFill>
                <a:latin typeface="Aptos"/>
              </a:defRPr>
            </a:pPr>
            <a:r>
              <a:t>Sub-category watchlist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2423160"/>
            <a:ext cx="1828800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1500" b="1">
                <a:solidFill>
                  <a:srgbClr val="C34141"/>
                </a:solidFill>
                <a:latin typeface="Aptos"/>
              </a:defRPr>
            </a:pPr>
            <a:r>
              <a:t>Bookcases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2423160"/>
            <a:ext cx="2286000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r">
              <a:defRPr sz="1500" b="1">
                <a:solidFill>
                  <a:srgbClr val="C34141"/>
                </a:solidFill>
                <a:latin typeface="Aptos"/>
              </a:defRPr>
            </a:pPr>
            <a:r>
              <a:t>−$150,609.09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2788920"/>
            <a:ext cx="4480560" cy="4572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1100" b="0">
                <a:solidFill>
                  <a:srgbClr val="667489"/>
                </a:solidFill>
                <a:latin typeface="Aptos"/>
              </a:defRPr>
            </a:pPr>
            <a:r>
              <a:t>Reported as a major loss pocket in the analysis table.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3520440"/>
            <a:ext cx="1828800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1500" b="1">
                <a:solidFill>
                  <a:srgbClr val="C34141"/>
                </a:solidFill>
                <a:latin typeface="Aptos"/>
              </a:defRPr>
            </a:pPr>
            <a:r>
              <a:t>Tables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3520440"/>
            <a:ext cx="2286000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r">
              <a:defRPr sz="1500" b="1">
                <a:solidFill>
                  <a:srgbClr val="C34141"/>
                </a:solidFill>
                <a:latin typeface="Aptos"/>
              </a:defRPr>
            </a:pPr>
            <a:r>
              <a:t>−$99,539.31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3886200"/>
            <a:ext cx="4480560" cy="5029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1100" b="0">
                <a:solidFill>
                  <a:srgbClr val="667489"/>
                </a:solidFill>
                <a:latin typeface="Aptos"/>
              </a:defRPr>
            </a:pPr>
            <a:r>
              <a:t>Review unit economics, discounts, shipping, and returns.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4754880"/>
            <a:ext cx="4434840" cy="7315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1200" b="1">
                <a:solidFill>
                  <a:srgbClr val="263244"/>
                </a:solidFill>
                <a:latin typeface="Aptos"/>
              </a:defRPr>
            </a:pPr>
            <a:r>
              <a:t>Validate these figures against the final dashboard/export before presenting them as audited results.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2700" b="1">
                <a:solidFill>
                  <a:srgbClr val="13233E"/>
                </a:solidFill>
                <a:latin typeface="Aptos"/>
              </a:defRPr>
            </a:pPr>
            <a:r>
              <a:t>Finding 3 — regional performance &amp;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59536"/>
            <a:ext cx="10789920" cy="2743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1100" b="0">
                <a:solidFill>
                  <a:srgbClr val="667489"/>
                </a:solidFill>
                <a:latin typeface="Aptos"/>
              </a:defRPr>
            </a:pPr>
            <a:r>
              <a:t>Regional profit differs; the dashboard enables follow-up by region and time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07008"/>
            <a:ext cx="731520" cy="54864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411480" cy="1828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r">
              <a:defRPr sz="900" b="0">
                <a:solidFill>
                  <a:srgbClr val="667489"/>
                </a:solidFill>
                <a:latin typeface="Aptos"/>
              </a:defRPr>
            </a:pPr>
            <a:r>
              <a:t>06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40080" y="1554480"/>
          <a:ext cx="5577840" cy="4343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629400" y="1691640"/>
            <a:ext cx="4389120" cy="3657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1700" b="1">
                <a:solidFill>
                  <a:srgbClr val="13233E"/>
                </a:solidFill>
                <a:latin typeface="Aptos"/>
              </a:defRPr>
            </a:pPr>
            <a:r>
              <a:t>Dashboard components</a:t>
            </a:r>
          </a:p>
        </p:txBody>
      </p:sp>
      <p:sp>
        <p:nvSpPr>
          <p:cNvPr id="8" name="Oval 7"/>
          <p:cNvSpPr/>
          <p:nvPr/>
        </p:nvSpPr>
        <p:spPr>
          <a:xfrm>
            <a:off x="6720840" y="2377440"/>
            <a:ext cx="109728" cy="109728"/>
          </a:xfrm>
          <a:prstGeom prst="ellipse">
            <a:avLst/>
          </a:prstGeom>
          <a:solidFill>
            <a:srgbClr val="12A5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940296" y="2286000"/>
            <a:ext cx="4261104" cy="5486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1300" b="0">
                <a:solidFill>
                  <a:srgbClr val="263244"/>
                </a:solidFill>
                <a:latin typeface="Aptos"/>
              </a:defRPr>
            </a:pPr>
            <a:r>
              <a:t>KPI cards: sales, profit, orders, average discount</a:t>
            </a:r>
          </a:p>
        </p:txBody>
      </p:sp>
      <p:sp>
        <p:nvSpPr>
          <p:cNvPr id="10" name="Oval 9"/>
          <p:cNvSpPr/>
          <p:nvPr/>
        </p:nvSpPr>
        <p:spPr>
          <a:xfrm>
            <a:off x="6720840" y="3063240"/>
            <a:ext cx="109728" cy="109728"/>
          </a:xfrm>
          <a:prstGeom prst="ellipse">
            <a:avLst/>
          </a:prstGeom>
          <a:solidFill>
            <a:srgbClr val="12A5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940296" y="2971800"/>
            <a:ext cx="4261104" cy="5486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1300" b="0">
                <a:solidFill>
                  <a:srgbClr val="263244"/>
                </a:solidFill>
                <a:latin typeface="Aptos"/>
              </a:defRPr>
            </a:pPr>
            <a:r>
              <a:t>Charts: sales by category and region, profit by category</a:t>
            </a:r>
          </a:p>
        </p:txBody>
      </p:sp>
      <p:sp>
        <p:nvSpPr>
          <p:cNvPr id="12" name="Oval 11"/>
          <p:cNvSpPr/>
          <p:nvPr/>
        </p:nvSpPr>
        <p:spPr>
          <a:xfrm>
            <a:off x="6720840" y="3749039"/>
            <a:ext cx="109728" cy="109728"/>
          </a:xfrm>
          <a:prstGeom prst="ellipse">
            <a:avLst/>
          </a:prstGeom>
          <a:solidFill>
            <a:srgbClr val="12A5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940296" y="3657600"/>
            <a:ext cx="4261104" cy="5486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1300" b="0">
                <a:solidFill>
                  <a:srgbClr val="263244"/>
                </a:solidFill>
                <a:latin typeface="Aptos"/>
              </a:defRPr>
            </a:pPr>
            <a:r>
              <a:t>Monthly sales trend with date-range control</a:t>
            </a:r>
          </a:p>
        </p:txBody>
      </p:sp>
      <p:sp>
        <p:nvSpPr>
          <p:cNvPr id="14" name="Oval 13"/>
          <p:cNvSpPr/>
          <p:nvPr/>
        </p:nvSpPr>
        <p:spPr>
          <a:xfrm>
            <a:off x="6720840" y="4434840"/>
            <a:ext cx="109728" cy="109728"/>
          </a:xfrm>
          <a:prstGeom prst="ellipse">
            <a:avLst/>
          </a:prstGeom>
          <a:solidFill>
            <a:srgbClr val="12A5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940296" y="4343400"/>
            <a:ext cx="4261104" cy="5486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1300" b="0">
                <a:solidFill>
                  <a:srgbClr val="263244"/>
                </a:solidFill>
                <a:latin typeface="Aptos"/>
              </a:defRPr>
            </a:pPr>
            <a:r>
              <a:t>Region filter for focused comparisons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75120" y="5166360"/>
            <a:ext cx="4526280" cy="594360"/>
          </a:xfrm>
          <a:prstGeom prst="roundRect">
            <a:avLst/>
          </a:prstGeom>
          <a:solidFill>
            <a:srgbClr val="E5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858000" y="5294376"/>
            <a:ext cx="4160520" cy="563231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1100" b="1">
                <a:solidFill>
                  <a:srgbClr val="2F6BFF"/>
                </a:solidFill>
                <a:latin typeface="Aptos"/>
              </a:defRPr>
            </a:pPr>
            <a:r>
              <a:rPr lang="en-IN" sz="1100" b="1" dirty="0"/>
              <a:t>https://datastudio.google.com/reporting/8ca8ab2d-5d6f-46c6-827f-0e4c6c1651bb</a:t>
            </a:r>
          </a:p>
          <a:p>
            <a:pPr>
              <a:defRPr sz="1100" b="1">
                <a:solidFill>
                  <a:srgbClr val="2F6BFF"/>
                </a:solidFill>
                <a:latin typeface="Aptos"/>
              </a:defRPr>
            </a:pP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2700" b="1">
                <a:solidFill>
                  <a:srgbClr val="13233E"/>
                </a:solidFill>
                <a:latin typeface="Aptos"/>
              </a:defRPr>
            </a:pPr>
            <a:r>
              <a:t>Recommendations &amp; responsible 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59536"/>
            <a:ext cx="10789920" cy="2743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1100" b="0">
                <a:solidFill>
                  <a:srgbClr val="667489"/>
                </a:solidFill>
                <a:latin typeface="Aptos"/>
              </a:defRPr>
            </a:pPr>
            <a:r>
              <a:t>Protect margin, then validate the numbers before business decisions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07008"/>
            <a:ext cx="731520" cy="54864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411480" cy="1828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r">
              <a:defRPr sz="900" b="0">
                <a:solidFill>
                  <a:srgbClr val="667489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5303520" cy="3657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1800" b="1">
                <a:solidFill>
                  <a:srgbClr val="13233E"/>
                </a:solidFill>
                <a:latin typeface="Aptos"/>
              </a:defRPr>
            </a:pPr>
            <a:r>
              <a:t>Recommended actions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2057400"/>
            <a:ext cx="438912" cy="438912"/>
          </a:xfrm>
          <a:prstGeom prst="ellipse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029968"/>
            <a:ext cx="4389120" cy="29260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1500" b="1">
                <a:solidFill>
                  <a:srgbClr val="263244"/>
                </a:solidFill>
                <a:latin typeface="Aptos"/>
              </a:defRPr>
            </a:pPr>
            <a:r>
              <a:t>Review discount rules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377440"/>
            <a:ext cx="4343400" cy="62179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1100" b="0">
                <a:solidFill>
                  <a:srgbClr val="667489"/>
                </a:solidFill>
                <a:latin typeface="Aptos"/>
              </a:defRPr>
            </a:pPr>
            <a:r>
              <a:t>Investigate 30%+ discount bands; add margin guardrails and approval thresholds.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200400"/>
            <a:ext cx="438912" cy="438912"/>
          </a:xfrm>
          <a:prstGeom prst="ellipse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3172968"/>
            <a:ext cx="4389120" cy="29260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1500" b="1">
                <a:solidFill>
                  <a:srgbClr val="263244"/>
                </a:solidFill>
                <a:latin typeface="Aptos"/>
              </a:defRPr>
            </a:pPr>
            <a:r>
              <a:t>Fix loss-making sub-categories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3520440"/>
            <a:ext cx="4343400" cy="62179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1100" b="0">
                <a:solidFill>
                  <a:srgbClr val="667489"/>
                </a:solidFill>
                <a:latin typeface="Aptos"/>
              </a:defRPr>
            </a:pPr>
            <a:r>
              <a:t>Audit pricing, cost, shipping, returns, and promotions for Tables and Bookcases.</a:t>
            </a:r>
          </a:p>
        </p:txBody>
      </p:sp>
      <p:sp>
        <p:nvSpPr>
          <p:cNvPr id="13" name="Oval 12"/>
          <p:cNvSpPr/>
          <p:nvPr/>
        </p:nvSpPr>
        <p:spPr>
          <a:xfrm>
            <a:off x="777240" y="4343400"/>
            <a:ext cx="438912" cy="438912"/>
          </a:xfrm>
          <a:prstGeom prst="ellipse">
            <a:avLst/>
          </a:prstGeom>
          <a:solidFill>
            <a:srgbClr val="12A5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4315968"/>
            <a:ext cx="4389120" cy="29260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1500" b="1">
                <a:solidFill>
                  <a:srgbClr val="263244"/>
                </a:solidFill>
                <a:latin typeface="Aptos"/>
              </a:defRPr>
            </a:pPr>
            <a:r>
              <a:t>Scale proven strengths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4663440"/>
            <a:ext cx="4343400" cy="62179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1100" b="0">
                <a:solidFill>
                  <a:srgbClr val="667489"/>
                </a:solidFill>
                <a:latin typeface="Aptos"/>
              </a:defRPr>
            </a:pPr>
            <a:r>
              <a:t>Study profitable Technology products and West-region performance for repeatable growth.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1554480"/>
            <a:ext cx="507492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E0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37960" y="1828800"/>
            <a:ext cx="4480560" cy="3657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1700" b="1">
                <a:solidFill>
                  <a:srgbClr val="13233E"/>
                </a:solidFill>
                <a:latin typeface="Aptos"/>
              </a:defRPr>
            </a:pPr>
            <a:r>
              <a:t>Limitations &amp; AI-use disclosure</a:t>
            </a:r>
          </a:p>
        </p:txBody>
      </p:sp>
      <p:sp>
        <p:nvSpPr>
          <p:cNvPr id="18" name="Oval 17"/>
          <p:cNvSpPr/>
          <p:nvPr/>
        </p:nvSpPr>
        <p:spPr>
          <a:xfrm>
            <a:off x="6583680" y="2468880"/>
            <a:ext cx="109728" cy="109728"/>
          </a:xfrm>
          <a:prstGeom prst="ellipse">
            <a:avLst/>
          </a:prstGeom>
          <a:solidFill>
            <a:srgbClr val="EB9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803136" y="2377440"/>
            <a:ext cx="4215383" cy="5486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1000" b="0">
                <a:solidFill>
                  <a:srgbClr val="263244"/>
                </a:solidFill>
                <a:latin typeface="Aptos"/>
              </a:defRPr>
            </a:pPr>
            <a:r>
              <a:t>The analysis file was expanded to 50,000 rows; it should not be described as 50,000 independently observed original transactions.</a:t>
            </a:r>
          </a:p>
        </p:txBody>
      </p:sp>
      <p:sp>
        <p:nvSpPr>
          <p:cNvPr id="20" name="Oval 19"/>
          <p:cNvSpPr/>
          <p:nvPr/>
        </p:nvSpPr>
        <p:spPr>
          <a:xfrm>
            <a:off x="6583680" y="3429000"/>
            <a:ext cx="109728" cy="109728"/>
          </a:xfrm>
          <a:prstGeom prst="ellipse">
            <a:avLst/>
          </a:prstGeom>
          <a:solidFill>
            <a:srgbClr val="EB9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803136" y="3337560"/>
            <a:ext cx="4215383" cy="5486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1000" b="0">
                <a:solidFill>
                  <a:srgbClr val="263244"/>
                </a:solidFill>
                <a:latin typeface="Aptos"/>
              </a:defRPr>
            </a:pPr>
            <a:r>
              <a:t>Some metrics differ across working views. Reconcile the final CSV, sheet, and dashboard before submission.</a:t>
            </a:r>
          </a:p>
        </p:txBody>
      </p:sp>
      <p:sp>
        <p:nvSpPr>
          <p:cNvPr id="22" name="Oval 21"/>
          <p:cNvSpPr/>
          <p:nvPr/>
        </p:nvSpPr>
        <p:spPr>
          <a:xfrm>
            <a:off x="6583680" y="4389120"/>
            <a:ext cx="109728" cy="109728"/>
          </a:xfrm>
          <a:prstGeom prst="ellipse">
            <a:avLst/>
          </a:prstGeom>
          <a:solidFill>
            <a:srgbClr val="EB9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803136" y="4297680"/>
            <a:ext cx="4215383" cy="5486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1000" b="0">
                <a:solidFill>
                  <a:srgbClr val="263244"/>
                </a:solidFill>
                <a:latin typeface="Aptos"/>
              </a:defRPr>
            </a:pPr>
            <a:r>
              <a:t>AI assisted with structuring insights and drafting presentation content; figures should be checked by the analyst.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5349240"/>
            <a:ext cx="4389120" cy="4114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1100" b="1">
                <a:solidFill>
                  <a:srgbClr val="239164"/>
                </a:solidFill>
                <a:latin typeface="Aptos"/>
              </a:defRPr>
            </a:pPr>
            <a:r>
              <a:t>Conclusion: investigate with the dashboard; validate before acting.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633</Words>
  <Application>Microsoft Office PowerPoint</Application>
  <PresentationFormat>Widescreen</PresentationFormat>
  <Paragraphs>113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RANIT HALDER</cp:lastModifiedBy>
  <cp:revision>2</cp:revision>
  <dcterms:created xsi:type="dcterms:W3CDTF">2013-01-27T09:14:16Z</dcterms:created>
  <dcterms:modified xsi:type="dcterms:W3CDTF">2026-10-26T16:33:22Z</dcterms:modified>
  <cp:category/>
</cp:coreProperties>
</file>